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917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4114800" cy="4114800"/>
          </a:xfrm>
          <a:prstGeom prst="ellipse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2A14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731520"/>
            <a:ext cx="3200400" cy="32004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2A14D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000000"/>
                </a:solidFill>
              </a:rPr>
              <a:t>🚢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TITANIC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 Prediction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423161" y="2795602"/>
            <a:ext cx="2103120" cy="32004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Classification Project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Afraz Hussain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— eduexpose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🌊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0E2238">
              <a:alpha val="8000"/>
            </a:srgbClr>
          </a:solidFill>
          <a:ln w="12700">
            <a:solidFill>
              <a:srgbClr val="0E2238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⚓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920240" y="12344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April 15, 1912, the RMS Titanic sank after striking an iceberg, resulting in the loss of over 1,500 of the 2,224 passengers and crew aboard — one of the deadliest peacetime maritime disasters in history.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4231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survival involved an element of chance, data shows it was far from random. Certain groups — women, children, and first-class passengers — had a significantly higher chance of survival due to evacuation protocols.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4904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E0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machine learning to uncover and quantify these survival patterns — turning a century-old tragedy into a structured, data-driven classification problem.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99032"/>
            <a:ext cx="457200" cy="45720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3990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89280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passenger's attributes — class, sex, age, fare, family size — can we predict whether they survived the Titanic disaster?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399032"/>
            <a:ext cx="457200" cy="457200"/>
          </a:xfrm>
          <a:prstGeom prst="ellipse">
            <a:avLst/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13990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89280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supervised machine learning classification model that predicts a binary survival outcome (0 = Did Not Survive, 1 = Survived).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44952"/>
            <a:ext cx="457200" cy="457200"/>
          </a:xfrm>
          <a:prstGeom prst="ellipse">
            <a:avLst/>
          </a:prstGeom>
          <a:solidFill>
            <a:srgbClr val="8C4A2F"/>
          </a:solidFill>
          <a:ln w="12700">
            <a:solidFill>
              <a:srgbClr val="8C4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0449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Type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5387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binary classification problem, solved using the Titanic dataset published on Kaggle.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3044952"/>
            <a:ext cx="457200" cy="457200"/>
          </a:xfrm>
          <a:prstGeom prst="ellipse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30449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5387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complete ML pipeline: cleaning, EDA, feature engineering, model training, and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12344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7168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87168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418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487168" y="2167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08576" y="12344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08576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08576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08576" y="2167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9984" y="123444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9984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29984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729984" y="2167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4320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91840" y="274320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743200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 = Did not survive, 1 = Survived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3246120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4612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 / Sex / Age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324612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246120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class, gender, and age of passenger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490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 / Parch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91840" y="374904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749040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Siblings/spouses and parents/children aboard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4251960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5196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/ Cabin / Embarked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91840" y="425196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4251960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fare, cabin number, port of boarding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130759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— Missing Values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25880" y="1636776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the median age (robust to outliers and skew).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30552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30552"/>
            <a:ext cx="822960" cy="777240"/>
          </a:xfrm>
          <a:prstGeom prst="roundRect">
            <a:avLst>
              <a:gd name="adj" fmla="val 9412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3055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20370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Embarked — Missing Values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25880" y="2532888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the mode (most frequent boarding port).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26664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26664"/>
            <a:ext cx="822960" cy="777240"/>
          </a:xfrm>
          <a:prstGeom prst="roundRect">
            <a:avLst>
              <a:gd name="adj" fmla="val 9412"/>
            </a:avLst>
          </a:prstGeom>
          <a:solidFill>
            <a:srgbClr val="8C4A2F"/>
          </a:solidFill>
          <a:ln w="12700">
            <a:solidFill>
              <a:srgbClr val="8C4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2666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25880" y="309981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Cabin — Missing Values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25880" y="34290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placeholder "Unknown" rather than dropped.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22776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22776"/>
            <a:ext cx="822960" cy="777240"/>
          </a:xfrm>
          <a:prstGeom prst="roundRect">
            <a:avLst>
              <a:gd name="adj" fmla="val 9412"/>
            </a:avLst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22776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25880" y="399592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Encoding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25880" y="4325112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and Embarked converted to numeric using Label Encoding.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 — Survival Patterns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618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 Count</a:t>
            </a:r>
            <a:endParaRPr lang="en-US" sz="1150" dirty="0"/>
          </a:p>
        </p:txBody>
      </p:sp>
      <p:pic>
        <p:nvPicPr>
          <p:cNvPr id="9" name="Image 0" descr="/home/claude/titanic/survival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81785"/>
            <a:ext cx="2606040" cy="152846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0" y="11887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91840" y="12618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Distribution</a:t>
            </a:r>
            <a:endParaRPr lang="en-US" sz="1150" dirty="0"/>
          </a:p>
        </p:txBody>
      </p:sp>
      <p:pic>
        <p:nvPicPr>
          <p:cNvPr id="12" name="Image 1" descr="/home/claude/titanic/gender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635684"/>
            <a:ext cx="2606040" cy="16206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26480" y="11887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217920" y="12618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 Class</a:t>
            </a:r>
            <a:endParaRPr lang="en-US" sz="1150" dirty="0"/>
          </a:p>
        </p:txBody>
      </p:sp>
      <p:pic>
        <p:nvPicPr>
          <p:cNvPr id="15" name="Image 2" descr="/home/claude/titanic/pclass_d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42678"/>
            <a:ext cx="2606040" cy="160668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28600" y="3550294"/>
            <a:ext cx="8412480" cy="1529198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02920" y="3611880"/>
            <a:ext cx="2011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Distribution</a:t>
            </a:r>
            <a:endParaRPr lang="en-US" sz="1250" dirty="0"/>
          </a:p>
        </p:txBody>
      </p:sp>
      <p:pic>
        <p:nvPicPr>
          <p:cNvPr id="18" name="Image 3" descr="/home/claude/titanic/age_d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3550294"/>
            <a:ext cx="3696286" cy="15291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 — Survival by Gender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54864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titanic/survival_by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38128"/>
            <a:ext cx="5303520" cy="3358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89320" y="1325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07608" y="1691640"/>
            <a:ext cx="1280160" cy="27432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8745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passengers had a dramatically higher survival rate than male passengers.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89320" y="26517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reflects the “women and children first” evacuation protocol followed during the disaster, and is one of the clearest signals in the entire dataset.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89320" y="420624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42062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0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became the #1 predictor in the model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8016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3533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1965960"/>
            <a:ext cx="256032" cy="0"/>
          </a:xfrm>
          <a:prstGeom prst="line">
            <a:avLst/>
          </a:prstGeom>
          <a:noFill/>
          <a:ln w="25400">
            <a:solidFill>
              <a:srgbClr val="C2A1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128016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3533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39112" y="17830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02152" y="1965960"/>
            <a:ext cx="256032" cy="0"/>
          </a:xfrm>
          <a:prstGeom prst="line">
            <a:avLst/>
          </a:prstGeom>
          <a:noFill/>
          <a:ln w="25400">
            <a:solidFill>
              <a:srgbClr val="C2A1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58184" y="128016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58184" y="13533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58184" y="17830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21224" y="1965960"/>
            <a:ext cx="256032" cy="0"/>
          </a:xfrm>
          <a:prstGeom prst="line">
            <a:avLst/>
          </a:prstGeom>
          <a:noFill/>
          <a:ln w="25400">
            <a:solidFill>
              <a:srgbClr val="C2A1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77256" y="128016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8C4A2F"/>
          </a:solidFill>
          <a:ln w="12700">
            <a:solidFill>
              <a:srgbClr val="8C4A2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77256" y="13533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✂️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77256" y="17830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0296" y="1965960"/>
            <a:ext cx="256032" cy="0"/>
          </a:xfrm>
          <a:prstGeom prst="line">
            <a:avLst/>
          </a:prstGeom>
          <a:noFill/>
          <a:ln w="25400">
            <a:solidFill>
              <a:srgbClr val="C2A1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96328" y="128016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96328" y="13533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🌲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96328" y="17830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2971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Algorithm: Random Forest Classifier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760" y="3383280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465576"/>
            <a:ext cx="164592" cy="164592"/>
          </a:xfrm>
          <a:prstGeom prst="ellipse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38328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423160" y="3383280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14600" y="3465576"/>
            <a:ext cx="164592" cy="164592"/>
          </a:xfrm>
          <a:prstGeom prst="ellipse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38328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3767328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849624"/>
            <a:ext cx="164592" cy="164592"/>
          </a:xfrm>
          <a:prstGeom prst="ellipse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76732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23160" y="3767328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14600" y="3849624"/>
            <a:ext cx="164592" cy="164592"/>
          </a:xfrm>
          <a:prstGeom prst="ellipse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6732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4151376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233672"/>
            <a:ext cx="164592" cy="164592"/>
          </a:xfrm>
          <a:prstGeom prst="ellipse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15137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423160" y="4151376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14600" y="4233672"/>
            <a:ext cx="164592" cy="164592"/>
          </a:xfrm>
          <a:prstGeom prst="ellipse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0" y="415137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65760" y="4535424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4617720"/>
            <a:ext cx="164592" cy="164592"/>
          </a:xfrm>
          <a:prstGeom prst="ellipse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4535424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Embarked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846320" y="2971800"/>
            <a:ext cx="3931920" cy="1874520"/>
          </a:xfrm>
          <a:prstGeom prst="roundRect">
            <a:avLst>
              <a:gd name="adj" fmla="val 5854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029200" y="3090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Configuration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02920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0" y="38221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029200" y="4169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29200" y="45171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743200" cy="3520440"/>
          </a:xfrm>
          <a:prstGeom prst="roundRect">
            <a:avLst>
              <a:gd name="adj" fmla="val 4667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2A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82.12%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1280160" y="3063240"/>
            <a:ext cx="914400" cy="27432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20% hold-out set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83280" y="1280160"/>
            <a:ext cx="2377440" cy="475488"/>
          </a:xfrm>
          <a:prstGeom prst="roundRect">
            <a:avLst>
              <a:gd name="adj" fmla="val 13462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2801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1280160"/>
            <a:ext cx="2926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12801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(100 trees)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1847088"/>
            <a:ext cx="2377440" cy="475488"/>
          </a:xfrm>
          <a:prstGeom prst="roundRect">
            <a:avLst>
              <a:gd name="adj" fmla="val 13462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84708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52160" y="1847088"/>
            <a:ext cx="2926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18470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82.12%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2414016"/>
            <a:ext cx="2377440" cy="475488"/>
          </a:xfrm>
          <a:prstGeom prst="roundRect">
            <a:avLst>
              <a:gd name="adj" fmla="val 13462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41401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52160" y="2414016"/>
            <a:ext cx="2926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89320" y="24140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2980944"/>
            <a:ext cx="2377440" cy="475488"/>
          </a:xfrm>
          <a:prstGeom prst="roundRect">
            <a:avLst>
              <a:gd name="adj" fmla="val 13462"/>
            </a:avLst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98094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 Used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52160" y="2980944"/>
            <a:ext cx="2926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89320" y="298094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36576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66160" y="37947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predicted survival outcome for roughly 4 out of every 5 passengers in the validation set — a strong result for a 7-feature baseline model.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566928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titanic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93904"/>
            <a:ext cx="5486400" cy="31386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2200" y="1280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Predictors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0488" y="1664208"/>
            <a:ext cx="1188720" cy="27432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1828800"/>
            <a:ext cx="384048" cy="384048"/>
          </a:xfrm>
          <a:prstGeom prst="ellipse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29400" y="18288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72200" y="2395728"/>
            <a:ext cx="384048" cy="384048"/>
          </a:xfrm>
          <a:prstGeom prst="ellipse">
            <a:avLst/>
          </a:prstGeom>
          <a:solidFill>
            <a:srgbClr val="0F5C66"/>
          </a:solidFill>
          <a:ln w="12700">
            <a:solidFill>
              <a:srgbClr val="0F5C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29400" y="23957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72200" y="2962656"/>
            <a:ext cx="384048" cy="384048"/>
          </a:xfrm>
          <a:prstGeom prst="ellipse">
            <a:avLst/>
          </a:prstGeom>
          <a:solidFill>
            <a:srgbClr val="8C4A2F"/>
          </a:solidFill>
          <a:ln w="12700">
            <a:solidFill>
              <a:srgbClr val="8C4A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29400" y="29626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172200" y="36118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fare, and age together account for the majority of the model's predictive power — closely matching the historical evacuation pattern.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990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Model Performance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achieved 82.12% accuracy predicting passenger survival from 7 key features.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3990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🚺  Key Finding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013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was the single strongest predictor — female passengers had far higher survival rates than male passengers.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278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💰  Supporting Factors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6301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and Age were the next most influential, reflecting socioeconomic status and evacuation priority.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30632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2278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 Skills Demonstrated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36301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pipeline: cleaning, EDA, encoding, model training, evaluation, and interpretation.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321040" y="11887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344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advanced models — XGBoost, LightGBM, Gradient Boosting — for higher accuracy.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80136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🛠️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80136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new features: Title (from name), Family Size, and Deck (from cabin).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368296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36829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🎛️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36829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using GridSearchCV or RandomizedSearchCV.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93522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93522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k-fold cross-validation for a more robust accuracy estimate.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502152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50215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50215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as an interactive web app using Flask or Streamlit.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2A14D"/>
          </a:solidFill>
          <a:ln w="12700">
            <a:solidFill>
              <a:srgbClr val="C2A1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502920"/>
            <a:ext cx="3200400" cy="3200400"/>
          </a:xfrm>
          <a:prstGeom prst="ellipse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2A14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13716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⚓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Afraz Hussain   •   Data Science Internship   •   eduexpose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750</Words>
  <Application>Microsoft Office PowerPoint</Application>
  <PresentationFormat>On-screen Show (16:9)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Survival Prediction</dc:title>
  <dc:subject>PptxGenJS Presentation</dc:subject>
  <dc:creator>Afraz Hussain</dc:creator>
  <cp:lastModifiedBy>dell</cp:lastModifiedBy>
  <cp:revision>7</cp:revision>
  <dcterms:created xsi:type="dcterms:W3CDTF">2026-06-20T16:21:21Z</dcterms:created>
  <dcterms:modified xsi:type="dcterms:W3CDTF">2026-06-20T16:34:16Z</dcterms:modified>
</cp:coreProperties>
</file>